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Closing the Gap</a:t>
            </a:r>
          </a:p>
          <a:p>
            <a:pPr algn="ctr">
              <a:spcAft>
                <a:spcPts val="400"/>
              </a:spcAft>
              <a:defRPr sz="2200" b="0">
                <a:solidFill>
                  <a:srgbClr val="007A87"/>
                </a:solidFill>
                <a:latin typeface="Calibri"/>
              </a:defRPr>
            </a:pPr>
            <a:r>
              <a:t>Wake County Affordable Housing Supply-Demand Analysis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Built with Real Data from wakehousingdata.org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AABBCC"/>
                </a:solidFill>
                <a:latin typeface="Calibri"/>
              </a:defRPr>
            </a:pPr>
            <a:r>
              <a:t>Wake County HACR  |  April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PERFORMANCE INDICATORS  |  Wake County Housing Crisis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26,037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Units Missing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Affordable rental shortage</a:t>
            </a:r>
            <a:br/>
            <a:r>
              <a:t>for households under $35K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560320" cy="22860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39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 Close 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88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At current HACR pace of</a:t>
            </a:r>
            <a:br/>
            <a:r>
              <a:t>660 units/year (closes 2065)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560320" cy="228600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$3.8B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Investment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Same cost regardless of pace—</a:t>
            </a:r>
            <a:br/>
            <a:r>
              <a:t>only the timeline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560320" cy="228600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17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Entry-Level Collapse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88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Drop in homes sold under $250K</a:t>
            </a:r>
            <a:br/>
            <a:r>
              <a:t>2018 to 2022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2560320" cy="228600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3.72%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Vacancy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Well below 5% healthy benchmark—</a:t>
            </a:r>
            <a:br/>
            <a:r>
              <a:t>landlords set the terms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840480"/>
            <a:ext cx="2560320" cy="2286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4069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+$8,920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2021 Rent Shock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Income jump needed in a single</a:t>
            </a:r>
            <a:br/>
            <a:r>
              <a:t>year to keep up with 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40480"/>
            <a:ext cx="2560320" cy="2286000"/>
          </a:xfrm>
          <a:prstGeom prst="roundRect">
            <a:avLst/>
          </a:prstGeom>
          <a:solidFill>
            <a:srgbClr val="8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Renters Under $20K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Are cost-burdened—spending</a:t>
            </a:r>
            <a:br/>
            <a:r>
              <a:t>&gt;30% of income on housing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840480"/>
            <a:ext cx="2560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4069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 / 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Affordable Homes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Only 16 affordable units for</a:t>
            </a:r>
            <a:br/>
            <a:r>
              <a:t>every 100 renters under $20K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99AA"/>
                </a:solidFill>
                <a:latin typeface="Calibri"/>
              </a:defRPr>
            </a:pPr>
            <a:r>
              <a:t>Source: wakehousingdata.org  |  HACR FY2025 Annual Report  |  All real data, no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GAP  |  Rental Housing Deficit by Income Band</a:t>
            </a:r>
          </a:p>
        </p:txBody>
      </p:sp>
      <p:pic>
        <p:nvPicPr>
          <p:cNvPr id="4" name="Picture 3" descr="01_supply_deman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A6B"/>
                </a:solidFill>
                <a:latin typeface="Calibri"/>
              </a:defRPr>
            </a:pPr>
            <a:r>
              <a:t>What This Shows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Red bars = shortage. Green bars = surplus.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The shortage is concentrated at the lowest income levels: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&lt;$20K:  16,774 units short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&lt;$35K:  26,037 units short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&lt;$50K:  24,468 units short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Above $75K, supply exceeds demand. The crisis is an income-targeted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Wake County has enough housing overall — but not for people who need it most. The market works for $75K+ households. Below $50K, 67,279 families have no affordable 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SUPPLY PER 100 RENTERS  |  How Many Chairs for 100 People?</a:t>
            </a:r>
          </a:p>
        </p:txBody>
      </p:sp>
      <p:pic>
        <p:nvPicPr>
          <p:cNvPr id="4" name="Picture 3" descr="02_per_100_ren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6576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Musical Chairs Analogy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At &lt;$20K income: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100 people, only 16 chairs.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84 people are left standing.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At &lt;$75K income: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1A7A3C"/>
                </a:solidFill>
                <a:latin typeface="Calibri"/>
              </a:defRPr>
            </a:pPr>
            <a:r>
              <a:t>100 people, 104 chairs.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7A3C"/>
                </a:solidFill>
                <a:latin typeface="Calibri"/>
              </a:defRPr>
            </a:pPr>
            <a:r>
              <a:t>Everyone sits, a few to spare.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The dashed line = 100 (balanced).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Below it = shortage. Above it = surplus.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029200"/>
            <a:ext cx="11430000" cy="9144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The lowest-income renters face the most extreme competition for housing. At &lt;$20K, each affordable unit has 6 households competing for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COST BURDEN EXPLOSION  |  The Crisis Moves Up the Income Ladder</a:t>
            </a:r>
          </a:p>
        </p:txBody>
      </p:sp>
      <p:pic>
        <p:nvPicPr>
          <p:cNvPr id="4" name="Picture 3" descr="03_cost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Biggest Shifts (2014 to 2024)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$35K-$50K:  34.5%  --&gt;  88.9%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Jumped +54 percentage points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$50K-$75K:  9.8%  --&gt;  55.8%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Nearly 6x increase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E68A00"/>
                </a:solidFill>
                <a:latin typeface="Calibri"/>
              </a:defRPr>
            </a:pPr>
            <a:r>
              <a:t>$75K-$100K:  2.7%  --&gt;  20.8%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Even upper-middle income is affected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The dashed line = HUD's 30% threshold.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Every bar above it = cost-burdened.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In 2014, only renters under $35K were in crisis. By 2024, the crisis has engulfed the $35K-$75K range — the working class and middle class are now cost-burdened too.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AFFORDABILITY SQUEEZE  |  Renter Income vs. What Rent Actually Costs</a:t>
            </a:r>
          </a:p>
        </p:txBody>
      </p:sp>
      <p:pic>
        <p:nvPicPr>
          <p:cNvPr id="4" name="Picture 3" descr="04_income_vs_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Reading This Chart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007A87"/>
                </a:solidFill>
                <a:latin typeface="Calibri"/>
              </a:defRPr>
            </a:pPr>
            <a:r>
              <a:t>Teal line = what renters actually earn.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0392B"/>
                </a:solidFill>
                <a:latin typeface="Calibri"/>
              </a:defRPr>
            </a:pPr>
            <a:r>
              <a:t>Red line = income needed to afford rent.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Shaded area = the gap.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The 2021 Shock: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Rents jumped $223/month in one year.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Income needed to jump $8,920.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7A3C"/>
                </a:solidFill>
                <a:latin typeface="Calibri"/>
              </a:defRPr>
            </a:pPr>
            <a:r>
              <a:t>By 2024: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The lines nearly converge — the gap is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closing, but only because incomes are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finally catching up after 3 years.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The median renter in Wake County spent 3 years underwater after the 2021 rent shock. The gap peaked at $8,272/year — money that came from food, healthcare, and savings.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ENTRY-LEVEL COLLAPSE  |  First-Time Buyers Priced Out</a:t>
            </a:r>
          </a:p>
        </p:txBody>
      </p:sp>
      <p:pic>
        <p:nvPicPr>
          <p:cNvPr id="4" name="Picture 3" descr="05_entry_level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F0EAF8"/>
          </a:solidFill>
          <a:ln w="1905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The Shift in 4 Years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Under $250K homes: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007A87"/>
                </a:solidFill>
                <a:latin typeface="Calibri"/>
              </a:defRPr>
            </a:pPr>
            <a:r>
              <a:t>2018: 28.6% of all sales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2022: 3.1% of all sales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$500K+ homes: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007A87"/>
                </a:solidFill>
                <a:latin typeface="Calibri"/>
              </a:defRPr>
            </a:pPr>
            <a:r>
              <a:t>2018: 17.7% of all sales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5B2D8E"/>
                </a:solidFill>
                <a:latin typeface="Calibri"/>
              </a:defRPr>
            </a:pPr>
            <a:r>
              <a:t>2022: 46.8% of all sales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The market flipped: nearly half of all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homes sold are now $500K+, a price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most first-time buyers cannot 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In 2018, nearly 1 in 3 homes sold was affordable for a first-time buyer. By 2022, it was 1 in 32. The path from renting to owning has effectively closed for most Wake County residents.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DISPLACEMENT  |  Who Left Wake County? (2014-2024)</a:t>
            </a:r>
          </a:p>
        </p:txBody>
      </p:sp>
      <p:pic>
        <p:nvPicPr>
          <p:cNvPr id="4" name="Picture 3" descr="07_hh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The Wealth Polarisation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Bottom 3 bands lost: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-30,353 households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Top 2 bands gained: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1A7A3C"/>
                </a:solidFill>
                <a:latin typeface="Calibri"/>
              </a:defRPr>
            </a:pPr>
            <a:r>
              <a:t>+129,369 households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4:1 ratio — for every low-income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household that left, four high-income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households moved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23,176 households earning under $35K disappeared from Wake County in a decade. They didn't get richer — they were priced out. Meanwhile, $150K+ households grew by 100,784.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SUPPLY PRESSURE  |  Rent Trend &amp; Vacancy Rate</a:t>
            </a:r>
          </a:p>
        </p:txBody>
      </p:sp>
      <p:pic>
        <p:nvPicPr>
          <p:cNvPr id="4" name="Picture 3" descr="09_r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3200400"/>
          </a:xfrm>
          <a:prstGeom prst="rect">
            <a:avLst/>
          </a:prstGeom>
        </p:spPr>
      </p:pic>
      <p:pic>
        <p:nvPicPr>
          <p:cNvPr id="5" name="Picture 4" descr="06_vacancy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4480560"/>
            <a:ext cx="11430000" cy="164592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68A00"/>
                </a:solidFill>
                <a:latin typeface="Calibri"/>
              </a:defRPr>
            </a:pPr>
            <a:r>
              <a:t>How These Two Charts Connect: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Low vacancy (left chart: 2.74% in 2019) gave landlords pricing power → rents spiked +$223/month in 2021 (right chart). As new multifamily units came online (2022+), vacancy rose to 3.77% and rent growth stalled. But 3.72% is still well below the 5% healthy benchmark — tenants have no real bargaining power.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EQUITY LENS  |  Homeownership Rate by Race / Ethnicity</a:t>
            </a:r>
          </a:p>
        </p:txBody>
      </p:sp>
      <p:pic>
        <p:nvPicPr>
          <p:cNvPr id="4" name="Picture 3" descr="10_ownership_by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The Equity Gap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1B3A6B"/>
                </a:solidFill>
                <a:latin typeface="Calibri"/>
              </a:defRPr>
            </a:pPr>
            <a:r>
              <a:t>White homeownership:  71.4%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C0392B"/>
                </a:solidFill>
                <a:latin typeface="Calibri"/>
              </a:defRPr>
            </a:pPr>
            <a:r>
              <a:t>Black homeownership:  45.5%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C0392B"/>
                </a:solidFill>
                <a:latin typeface="Calibri"/>
              </a:defRPr>
            </a:pPr>
            <a:r>
              <a:t>25.9 percentage point gap.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With 88,430 Black households in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Wake County, that gap represents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roughly 22,900 families locked out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of homeownership relative to the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White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Wake County's homeownership gap mirrors national disparities. Black and Hispanic/Latino households own at rates 20-26 points below White households — a gap that compounds generational wealth inequality.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SCENARIO PLANNER  |  What Would It Take to Close the Gap?</a:t>
            </a:r>
          </a:p>
        </p:txBody>
      </p:sp>
      <p:pic>
        <p:nvPicPr>
          <p:cNvPr id="4" name="Picture 3" descr="08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005840"/>
            <a:ext cx="4206240" cy="384048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3A6B"/>
                </a:solidFill>
                <a:latin typeface="Calibri"/>
              </a:defRPr>
            </a:pPr>
            <a:r>
              <a:t>4 Policy Scenarios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Current Pace (660/yr):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40 years. Closes in 2065.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2x Scale-Up (1,320/yr):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E68A00"/>
                </a:solidFill>
                <a:latin typeface="Calibri"/>
              </a:defRPr>
            </a:pPr>
            <a:r>
              <a:t>20 years. Closes in 2045.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5x Scale-Up (3,300/yr):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1A7A3C"/>
                </a:solidFill>
                <a:latin typeface="Calibri"/>
              </a:defRPr>
            </a:pPr>
            <a:r>
              <a:t>8 years. Closes in 2033.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1">
                <a:solidFill>
                  <a:srgbClr val="1A1A2E"/>
                </a:solidFill>
                <a:latin typeface="Calibri"/>
              </a:defRPr>
            </a:pPr>
            <a:r>
              <a:t>Deep Subsidy (&lt;$20K focus):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5B2D8E"/>
                </a:solidFill>
                <a:latin typeface="Calibri"/>
              </a:defRPr>
            </a:pPr>
            <a:r>
              <a:t>40 years. Prioritizes deepest need.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E68A00"/>
                </a:solidFill>
                <a:latin typeface="Calibri"/>
              </a:defRPr>
            </a:pPr>
            <a:r>
              <a:t>Total cost: $3.8B in ALL scenarios.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Only the annual budget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120640"/>
            <a:ext cx="11430000" cy="10058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 The total investment is fixed at $3.8B. The only question is how fast to spend it. Doubling production halves the timeline — but the county will spend the same total amount regardless.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DATA MODEL  |  How the 4 Source Files Connect</a:t>
            </a:r>
          </a:p>
        </p:txBody>
      </p:sp>
      <p:pic>
        <p:nvPicPr>
          <p:cNvPr id="4" name="Picture 3" descr="data_mode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24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E68A00"/>
                </a:solidFill>
                <a:latin typeface="Calibri"/>
              </a:defRPr>
            </a:pPr>
            <a:r>
              <a:t>What the Data Tells Us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26,037 affordable units missing for &lt;$35K renters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39 years to close at current pace (660 units/yr)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$3.8B total investment needed regardless of timeline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Entry-level homes collapsed 89% (2018-2022)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5.  Crisis has spread to $35K-$75K income bands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6.  30,353 low-income HHs displaced in a decade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7.  Vacancy at 3.72% gives renters zero leverage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8.  25.9 pp racial homeownership gap persists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572000"/>
          </a:xfrm>
          <a:prstGeom prst="roundRect">
            <a:avLst/>
          </a:prstGeom>
          <a:solidFill>
            <a:srgbClr val="24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7A87"/>
                </a:solidFill>
                <a:latin typeface="Calibri"/>
              </a:defRPr>
            </a:pPr>
            <a:r>
              <a:t>What I Would Build Next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Census tract-level mapping (geographic equity)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Race/ethnicity overlay on all gap analyses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Live HMIS integration (homelessness correlation)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"What-if" tool for new development proposals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5.  Automated CAPER table generation from live data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6.  Landlord incentive ROI calculator for HACR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E68A00"/>
                </a:solidFill>
                <a:latin typeface="Calibri"/>
              </a:defRPr>
            </a:pPr>
            <a:r>
              <a:t>Built with: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Python 3.9  |  Streamlit  |  Plotly  |  pandas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data from wakehousingdata.org (real, public)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